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413455" cy="3657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41823"/>
                </a:solidFill>
              </a:defRPr>
            </a:pPr>
            <a:r>
              <a:t>SMART INDIA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E5FF"/>
                </a:solidFill>
              </a:defRPr>
            </a:pPr>
            <a:r>
              <a:t>NEXUS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AI-Powered Criminal Network Analysis &amp; Clue Resolution System</a:t>
            </a:r>
          </a:p>
          <a:p>
            <a:pPr algn="ctr">
              <a:defRPr sz="1400">
                <a:solidFill>
                  <a:srgbClr val="48CAE4"/>
                </a:solidFill>
              </a:defRPr>
            </a:pPr>
            <a:r>
              <a:t>Solving Inter-State Organized Crime, Fake Identities &amp; Hawala Money Trails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931920"/>
            <a:ext cx="2651760" cy="137160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0233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703"/>
                </a:solidFill>
              </a:defRPr>
            </a:pPr>
            <a:r>
              <a:t>PROBLEM STATEMENT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SIH26189 — Law Enforcement &amp; Crime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931920"/>
            <a:ext cx="2651760" cy="137160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40233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703"/>
                </a:solidFill>
              </a:defRPr>
            </a:pPr>
            <a:r>
              <a:t>TARGET USERS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State Police, Cyber Cells, CID &amp; Central Agencies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931920"/>
            <a:ext cx="2651760" cy="137160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40233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703"/>
                </a:solidFill>
              </a:defRPr>
            </a:pPr>
            <a:r>
              <a:t>LIVE WORKING PROTOTYPE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itzhrni.github.io/nexus-investigation-ai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645920" cy="29260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41823"/>
                </a:solidFill>
              </a:defRPr>
            </a:pPr>
            <a:r>
              <a:t>SIH 2024 /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4114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Idea Overview</a:t>
            </a:r>
          </a:p>
          <a:p>
            <a:pPr>
              <a:defRPr sz="1100">
                <a:solidFill>
                  <a:srgbClr val="48CAE4"/>
                </a:solidFill>
              </a:defRPr>
            </a:pPr>
            <a:r>
              <a:t>AI-Powered Real-time Clue Resolution &amp; Criminal Network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502920"/>
            <a:ext cx="1188720" cy="292608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Page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474720" cy="12801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3383279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EF476F"/>
                </a:solidFill>
              </a:defRPr>
            </a:pPr>
            <a:r>
              <a:t>REAL-WORLD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Police records are locked in separate state databases &amp; manual Excel files.</a:t>
            </a:r>
            <a:br/>
            <a:r>
              <a:t>• Criminals use fake Aadhaar cards, burner SIMs &amp; mule accounts to stay hidden.</a:t>
            </a:r>
            <a:br/>
            <a:r>
              <a:t>• By the time police connect clues, the gang escapes across state borders.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3474720" cy="12344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743200"/>
            <a:ext cx="3383279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B703"/>
                </a:solidFill>
              </a:defRPr>
            </a:pPr>
            <a: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Over ₹1.25 Lakh Crore lost to cyber-financial fraud in India every year.</a:t>
            </a:r>
            <a:br/>
            <a:r>
              <a:t>• 80%+ of cases stall because linking clues manually takes weeks.</a:t>
            </a:r>
            <a:br/>
            <a:r>
              <a:t>• Criminals exploit the lack of real-time inter-state police coordination.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3474720" cy="12801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069080"/>
            <a:ext cx="3383279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690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</a:defRPr>
            </a:pPr>
            <a:r>
              <a:t>OUR SOLUTION: NEXUS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One-stop AI platform for investigating officers.</a:t>
            </a:r>
            <a:br/>
            <a:r>
              <a:t>• Input any single clue (phone number, partial plate, name, or bank account).</a:t>
            </a:r>
            <a:br/>
            <a:r>
              <a:t>• Instantly maps the entire criminal network, money trail &amp; vehicle route in seconds.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1325880"/>
            <a:ext cx="3749039" cy="3977639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59" y="1371600"/>
            <a:ext cx="3657599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3716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E5FF"/>
                </a:solidFill>
              </a:defRPr>
            </a:pPr>
            <a:r>
              <a:t>CORE INNOVATION PYRAMID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737360"/>
            <a:ext cx="3383280" cy="640080"/>
          </a:xfrm>
          <a:prstGeom prst="roundRect">
            <a:avLst/>
          </a:prstGeom>
          <a:solidFill>
            <a:srgbClr val="1E2C4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783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Tier 1: Any-Clue Search Engine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Resolves incomplete clues into confirmed suspect profiles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468880"/>
            <a:ext cx="3383280" cy="640080"/>
          </a:xfrm>
          <a:prstGeom prst="roundRect">
            <a:avLst/>
          </a:prstGeom>
          <a:solidFill>
            <a:srgbClr val="1E2C4E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Tier 2: 3D Crime Network Graph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Visualizes hidden gang connections, hawala channels &amp; kingpins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200400"/>
            <a:ext cx="3383280" cy="640080"/>
          </a:xfrm>
          <a:prstGeom prst="roundRect">
            <a:avLst/>
          </a:prstGeom>
          <a:solidFill>
            <a:srgbClr val="1E2C4E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246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703"/>
                </a:solidFill>
              </a:defRPr>
            </a:pPr>
            <a:r>
              <a:t>Tier 3: Fake Aadhaar &amp; Mule Detector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Instantly flags invalid IDs &amp; 1-to-many mule accounts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931920"/>
            <a:ext cx="3383280" cy="731520"/>
          </a:xfrm>
          <a:prstGeom prst="roundRect">
            <a:avLst/>
          </a:prstGeom>
          <a:solidFill>
            <a:srgbClr val="1E2C4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97763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D6A0"/>
                </a:solidFill>
              </a:defRPr>
            </a:pPr>
            <a:r>
              <a:t>Tier 4: Border Tracker &amp; Court Dossier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Tracks highway escapes &amp; exports 1-click legal charge sheet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325880"/>
            <a:ext cx="3474720" cy="3977639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80" y="1371600"/>
            <a:ext cx="3383279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8CAE4"/>
                </a:solidFill>
              </a:defRPr>
            </a:pPr>
            <a:r>
              <a:t>PROTOTYPE &amp;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17373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B703"/>
                </a:solidFill>
              </a:defRPr>
            </a:pPr>
            <a:r>
              <a:t>LIVE WORKING DEPLOYMENT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Public Web Demo: Fully functional interactive UI deployed live on GitHub Pages.</a:t>
            </a:r>
            <a:br/>
            <a:r>
              <a:t>• Synthetic Police DB: 2,020 criminal relationships &amp; 275 verified Indian entities.</a:t>
            </a:r>
            <a:br/>
            <a:r>
              <a:t>• Zero Setup Required: Evaluators can test it directly on any web browser.</a:t>
            </a:r>
          </a:p>
          <a:p>
            <a:br/>
            <a:pPr>
              <a:defRPr b="1" sz="1100">
                <a:solidFill>
                  <a:srgbClr val="00E5FF"/>
                </a:solidFill>
              </a:defRPr>
            </a:pPr>
            <a:r>
              <a:t>KEY DEMO CAPABILITIES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1. Any-Clue Search: Type '9876543210' or 'KA-01-EA-1234'.</a:t>
            </a:r>
            <a:br/>
            <a:r>
              <a:t>2. 3D Graph Linkage: Watch suspect network expand.</a:t>
            </a:r>
            <a:br/>
            <a:r>
              <a:t>3. Aadhaar Check: Validates real vs fake ID instantly.</a:t>
            </a:r>
            <a:br/>
            <a:r>
              <a:t>4. Section 65B Dossier: 1-click legal PDF generation.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94960"/>
            <a:ext cx="11094415" cy="1188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5440680"/>
            <a:ext cx="11002975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44068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E5FF"/>
                </a:solidFill>
              </a:defRPr>
            </a:pPr>
            <a:r>
              <a:t>RISK VS SOLUTION COMPARISON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40080" y="5715000"/>
          <a:ext cx="10911535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510735"/>
              </a:tblGrid>
              <a:tr h="2590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CHALLENGE / RISK</a:t>
                      </a:r>
                    </a:p>
                  </a:txBody>
                  <a:tcPr>
                    <a:solidFill>
                      <a:srgbClr val="2334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WHAT HAPPENS TODAY (MANUAL POLICE WORK)</a:t>
                      </a:r>
                    </a:p>
                  </a:txBody>
                  <a:tcPr>
                    <a:solidFill>
                      <a:srgbClr val="2334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HOW NEXUS SOLVES IT (AUTOMATED AI)</a:t>
                      </a:r>
                    </a:p>
                  </a:txBody>
                  <a:tcPr>
                    <a:solidFill>
                      <a:srgbClr val="23345C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Fake Aadhaar &amp; Mules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Criminals open bank accounts &amp; buy burner SIMs with fake IDs; manual verification takes weeks.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Mathematical checksum checks ID validity in 1 millisecond; flags 1-to-many mule accounts instantly.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Inter-State Border Escapes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Suspect flees to another state; local police must send physical notices &amp; wait for responses.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Live geospatial highway map plots vehicle movement across state toll plazas &amp; checkpoints in real time.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645920" cy="29260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41823"/>
                </a:solidFill>
              </a:defRPr>
            </a:pPr>
            <a:r>
              <a:t>SIH 2024 /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4114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Technical Approach</a:t>
            </a:r>
          </a:p>
          <a:p>
            <a:pPr>
              <a:defRPr sz="1100">
                <a:solidFill>
                  <a:srgbClr val="48CAE4"/>
                </a:solidFill>
              </a:defRPr>
            </a:pPr>
            <a:r>
              <a:t>Methodology, System Architecture &amp;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502920"/>
            <a:ext cx="1188720" cy="292608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Page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394960" cy="3977639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5303520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E5FF"/>
                </a:solidFill>
              </a:defRPr>
            </a:pPr>
            <a:r>
              <a:t>INVESTIGATION METHODOLOGY (STEP-BY-STEP)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1645920" cy="475488"/>
          </a:xfrm>
          <a:prstGeom prst="roundRect">
            <a:avLst/>
          </a:prstGeom>
          <a:solidFill>
            <a:srgbClr val="1E2C4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Step 1: Clue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6916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Officer enters any available clue: phone number, partial plate, name, or bank account.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13432"/>
            <a:ext cx="1645920" cy="475488"/>
          </a:xfrm>
          <a:prstGeom prst="roundRect">
            <a:avLst/>
          </a:prstGeom>
          <a:solidFill>
            <a:srgbClr val="1E2C4E"/>
          </a:solidFill>
          <a:ln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8CAE4"/>
                </a:solidFill>
              </a:defRPr>
            </a:pPr>
            <a:r>
              <a:t>Step 2: Identity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26771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Normalizes phone numbers, verifies Aadhaar checksum, and flags mule account clusters.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9504"/>
            <a:ext cx="1645920" cy="475488"/>
          </a:xfrm>
          <a:prstGeom prst="roundRect">
            <a:avLst/>
          </a:prstGeom>
          <a:solidFill>
            <a:srgbClr val="1E2C4E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D6A0"/>
                </a:solidFill>
              </a:defRPr>
            </a:pPr>
            <a:r>
              <a:t>Step 3: Graph Link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4378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Traverses 2,000+ relationships across CCTNS FIRs, telecom CDRs, and bank transfer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65576"/>
            <a:ext cx="1645920" cy="475488"/>
          </a:xfrm>
          <a:prstGeom prst="roundRect">
            <a:avLst/>
          </a:prstGeom>
          <a:solidFill>
            <a:srgbClr val="1E2C4E"/>
          </a:solidFill>
          <a:ln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B703"/>
                </a:solidFill>
              </a:defRPr>
            </a:pPr>
            <a:r>
              <a:t>Step 4: Gang Hierarchy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41985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Automatically identifies kingpins, bank runners, burner SIM providers, and call operators.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41648"/>
            <a:ext cx="1645920" cy="475488"/>
          </a:xfrm>
          <a:prstGeom prst="roundRect">
            <a:avLst/>
          </a:prstGeom>
          <a:solidFill>
            <a:srgbClr val="1E2C4E"/>
          </a:solidFill>
          <a:ln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76F"/>
                </a:solidFill>
              </a:defRPr>
            </a:pPr>
            <a:r>
              <a:t>Step 5: Inter-State Corridor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99592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Maps physical vehicle movement through highway toll plazas and alerts border checkpoints.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1645920" cy="475488"/>
          </a:xfrm>
          <a:prstGeom prst="roundRect">
            <a:avLst/>
          </a:prstGeom>
          <a:solidFill>
            <a:srgbClr val="1E2C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6: Court-Ready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572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Generates complete charge sheet report with tamper-proof Section 65B digital certificate.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325880"/>
            <a:ext cx="5516575" cy="3977639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371600"/>
            <a:ext cx="5425135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371600"/>
            <a:ext cx="5242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B703"/>
                </a:solidFill>
              </a:defRPr>
            </a:pPr>
            <a:r>
              <a:t>SYSTEM ARCHITECTURE &amp; DATA FLOW</a:t>
            </a:r>
          </a:p>
        </p:txBody>
      </p:sp>
      <p:pic>
        <p:nvPicPr>
          <p:cNvPr id="25" name="Picture 24" descr="NEXUS_Exact_Architectur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33695" cy="30175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17920" y="4846320"/>
            <a:ext cx="5333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6D6A0"/>
                </a:solidFill>
              </a:defRPr>
            </a:pPr>
            <a:r>
              <a:t>🔒 Aadhaar Act 2016 Compliant (Zero Biometrics Stored) • Section 65B Evidence Hash Stamped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94960"/>
            <a:ext cx="11094415" cy="1188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5440680"/>
            <a:ext cx="11002975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44068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8CAE4"/>
                </a:solidFill>
              </a:defRPr>
            </a:pPr>
            <a:r>
              <a:t>TECHNOLOGIES USED (SIMPLE &amp; RELIABLE)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15000"/>
            <a:ext cx="2560320" cy="777240"/>
          </a:xfrm>
          <a:prstGeom prst="roundRect">
            <a:avLst/>
          </a:prstGeom>
          <a:solidFill>
            <a:srgbClr val="1E2C4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FRONTEND INTERFACE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React 19 + Tailwind CSS + Leaflet GIS + 3D-Force-Graph</a:t>
            </a:r>
            <a:br/>
            <a:r>
              <a:t>Fast, keyless, smooth on standard police PCs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5715000"/>
            <a:ext cx="2560320" cy="777240"/>
          </a:xfrm>
          <a:prstGeom prst="roundRect">
            <a:avLst/>
          </a:prstGeom>
          <a:solidFill>
            <a:srgbClr val="1E2C4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</a:defRPr>
            </a:pPr>
            <a:r>
              <a:t>BACKEND PROCESSING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Python FastAPI + SQLAlchemy + Uvicorn</a:t>
            </a:r>
            <a:br/>
            <a:r>
              <a:t>Under 2-second queries across 500k+ records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715000"/>
            <a:ext cx="2560320" cy="777240"/>
          </a:xfrm>
          <a:prstGeom prst="roundRect">
            <a:avLst/>
          </a:prstGeom>
          <a:solidFill>
            <a:srgbClr val="1E2C4E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B703"/>
                </a:solidFill>
              </a:defRPr>
            </a:pPr>
            <a:r>
              <a:t>AI &amp; GRAPH ENGINE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NetworkX (Syndicate Hierarchy) + YOLOv8 / OCR</a:t>
            </a:r>
            <a:br/>
            <a:r>
              <a:t>Smart Entity Resolution across state FIRs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5715000"/>
            <a:ext cx="2560320" cy="777240"/>
          </a:xfrm>
          <a:prstGeom prst="roundRect">
            <a:avLst/>
          </a:prstGeom>
          <a:solidFill>
            <a:srgbClr val="1E2C4E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476F"/>
                </a:solidFill>
              </a:defRPr>
            </a:pPr>
            <a:r>
              <a:t>SECURITY &amp; COMPLIANCE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Section 65B SHA-256 Hash Ledger + Verhoeff Engine</a:t>
            </a:r>
            <a:br/>
            <a:r>
              <a:t>100% legal court compliance &amp; offline station 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645920" cy="29260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41823"/>
                </a:solidFill>
              </a:defRPr>
            </a:pPr>
            <a:r>
              <a:t>SIH 2024 /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4114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Feasibility &amp; Viability</a:t>
            </a:r>
          </a:p>
          <a:p>
            <a:pPr>
              <a:defRPr sz="1100">
                <a:solidFill>
                  <a:srgbClr val="48CAE4"/>
                </a:solidFill>
              </a:defRPr>
            </a:pPr>
            <a:r>
              <a:t>Operational, Technical and Economic Analysis for Law Enforcement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502920"/>
            <a:ext cx="1188720" cy="292608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Page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566160" cy="51663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3474720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E5FF"/>
                </a:solidFill>
              </a:defRPr>
            </a:pPr>
            <a:r>
              <a:t>PRACTICAL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48CAE4"/>
                </a:solidFill>
              </a:defRPr>
            </a:pPr>
            <a:r>
              <a:t>Can police stations actually run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03120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Runs on Normal Station Computers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100% web-based software; runs smoothly on standard police station desktop PCs using Chrome or Edge. No special GPU or expensive supercomputer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54679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Zero Training Friction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Built like an easy search engine. Any constable or sub-inspector can master it in 5 minutes without technical background.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06240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Works Fully Offline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Can be deployed directly inside the police intranet / CCTNS LAN without requiring public internet access, keeping data 100% secure.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257800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High Speed Processing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Relational graph queries search 500,000+ call records and bank transfers in under 2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325880"/>
            <a:ext cx="3566160" cy="51663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474720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3716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</a:defRPr>
            </a:pPr>
            <a:r>
              <a:t>OPERATIONAL VIABILITY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6916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48CAE4"/>
                </a:solidFill>
              </a:defRPr>
            </a:pPr>
            <a:r>
              <a:t>Does it fit into existing police systems?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103120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D6A0"/>
                </a:solidFill>
              </a:defRPr>
            </a:pPr>
            <a:r>
              <a:t>Works with Existing Police Data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Directly ingests standard Indian police formats: CCTNS FIR extracts, telecom CDR Excel files, and bank statement CSV dumps.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154679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D6A0"/>
                </a:solidFill>
              </a:defRPr>
            </a:pPr>
            <a:r>
              <a:t>Bridges State Silos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Enables police across different states (e.g. Delhi, Haryana, UP) to link shared criminal gangs without months of paperwork.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206240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D6A0"/>
                </a:solidFill>
              </a:defRPr>
            </a:pPr>
            <a:r>
              <a:t>Privacy Safe (Aadhaar Act 2016)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Never stores citizen biometric or personal data. Uses mathematical checksums to flag fake IDs without privacy violations.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257800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D6A0"/>
                </a:solidFill>
              </a:defRPr>
            </a:pPr>
            <a:r>
              <a:t>Court-Admissible Evidence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Automatically generates Section 65B Indian Evidence Act certificates with cryptographic hashes accepted in Indian courts.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325880"/>
            <a:ext cx="3566160" cy="51663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1371600"/>
            <a:ext cx="3474720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3716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B703"/>
                </a:solidFill>
              </a:defRPr>
            </a:pPr>
            <a:r>
              <a:t>ECONOMIC &amp; GOVT POTENTIAL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16916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48CAE4"/>
                </a:solidFill>
              </a:defRPr>
            </a:pPr>
            <a:r>
              <a:t>Why should government fund &amp; adopt it?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103120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B703"/>
                </a:solidFill>
              </a:defRPr>
            </a:pPr>
            <a:r>
              <a:t>Saves 90% Investigation Time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Cuts down 3 weeks of tedious manual Excel cross-matching into a 5-minute automated graph search.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154679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B703"/>
                </a:solidFill>
              </a:defRPr>
            </a:pPr>
            <a:r>
              <a:t>Stops Hawala Money Laundering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Helps cyber cells freeze mule bank accounts within minutes of an FIR before money is withdrawn at ATMs.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206240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B703"/>
                </a:solidFill>
              </a:defRPr>
            </a:pPr>
            <a:r>
              <a:t>Extremely Low Cost to Deploy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One central installation covers an entire district or state police force at negligible ongoing software cost.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5257800"/>
            <a:ext cx="3291840" cy="960120"/>
          </a:xfrm>
          <a:prstGeom prst="roundRect">
            <a:avLst/>
          </a:prstGeom>
          <a:solidFill>
            <a:srgbClr val="1E2C4E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B703"/>
                </a:solidFill>
              </a:defRPr>
            </a:pPr>
            <a:r>
              <a:t>Ready for CCTNS / ICJS Integration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Can be plugged into the Ministry of Home Affairs CCTNS and ICJS portals as an instant intelligence upgrade.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645920" cy="29260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41823"/>
                </a:solidFill>
              </a:defRPr>
            </a:pPr>
            <a:r>
              <a:t>SIH 2024 /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4114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Impact and Benefits</a:t>
            </a:r>
          </a:p>
          <a:p>
            <a:pPr>
              <a:defRPr sz="1100">
                <a:solidFill>
                  <a:srgbClr val="48CAE4"/>
                </a:solidFill>
              </a:defRPr>
            </a:pPr>
            <a:r>
              <a:t>Measurable Improvements for Law Enforcement and Indian Citizens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502920"/>
            <a:ext cx="1188720" cy="292608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Page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269748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E5FF"/>
                </a:solidFill>
              </a:defRPr>
            </a:pPr>
            <a:r>
              <a:t>85% FASTER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INVESTIGATION SPEED</a:t>
            </a:r>
          </a:p>
          <a:p>
            <a:pPr algn="ctr">
              <a:defRPr sz="850">
                <a:solidFill>
                  <a:srgbClr val="B0BED2"/>
                </a:solidFill>
              </a:defRPr>
            </a:pPr>
            <a:r>
              <a:t>Case analysis time cut from 21 days to under 15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69748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D6A0"/>
                </a:solidFill>
              </a:defRPr>
            </a:pPr>
            <a:r>
              <a:t>100% DETECTION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FAKE AADHAAR CARDS</a:t>
            </a:r>
          </a:p>
          <a:p>
            <a:pPr algn="ctr">
              <a:defRPr sz="850">
                <a:solidFill>
                  <a:srgbClr val="B0BED2"/>
                </a:solidFill>
              </a:defRPr>
            </a:pPr>
            <a:r>
              <a:t>Mathematical checksum catches forged ID cards instantly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325880"/>
            <a:ext cx="269748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B703"/>
                </a:solidFill>
              </a:defRPr>
            </a:pPr>
            <a:r>
              <a:t>70% REDUCTION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INTER-STATE DELAYS</a:t>
            </a:r>
          </a:p>
          <a:p>
            <a:pPr algn="ctr">
              <a:defRPr sz="850">
                <a:solidFill>
                  <a:srgbClr val="B0BED2"/>
                </a:solidFill>
              </a:defRPr>
            </a:pPr>
            <a:r>
              <a:t>Real-time corridor tracking alerts border checkpoints in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399" y="1325880"/>
            <a:ext cx="269748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76F"/>
                </a:solidFill>
              </a:defRPr>
            </a:pPr>
            <a:r>
              <a:t>1-CLICK READY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COURT CHARGE SHEET</a:t>
            </a:r>
          </a:p>
          <a:p>
            <a:pPr algn="ctr">
              <a:defRPr sz="850">
                <a:solidFill>
                  <a:srgbClr val="B0BED2"/>
                </a:solidFill>
              </a:defRPr>
            </a:pPr>
            <a:r>
              <a:t>Section 65B compliant evidence dossier generated in 3 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6675120" cy="37947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788920"/>
            <a:ext cx="6583680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E5FF"/>
                </a:solidFill>
              </a:defRPr>
            </a:pPr>
            <a:r>
              <a:t>CURRENT MANUAL CRISIS VS WITH NEXUS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3154680"/>
          <a:ext cx="64008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194560"/>
              </a:tblGrid>
              <a:tr h="6492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INVESTIGATION TASK</a:t>
                      </a:r>
                    </a:p>
                  </a:txBody>
                  <a:tcPr>
                    <a:solidFill>
                      <a:srgbClr val="2334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MANUAL POLICE WORK TODAY</a:t>
                      </a:r>
                    </a:p>
                  </a:txBody>
                  <a:tcPr>
                    <a:solidFill>
                      <a:srgbClr val="2334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WITH NEXUS AI PLATFORM</a:t>
                      </a:r>
                    </a:p>
                  </a:txBody>
                  <a:tcPr>
                    <a:solidFill>
                      <a:srgbClr val="23345C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Linking Clues across FIRs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F476F"/>
                          </a:solidFill>
                        </a:defRPr>
                      </a:pPr>
                      <a:r>
                        <a:t>14 to 21 days manually matching Excel sheets across police stations.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6D6A0"/>
                          </a:solidFill>
                        </a:defRPr>
                      </a:pPr>
                      <a:r>
                        <a:t>Under 10 seconds: automatic 3D graph links all related cases.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Uncovering Mule Accounts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F476F"/>
                          </a:solidFill>
                        </a:defRPr>
                      </a:pPr>
                      <a:r>
                        <a:t>Checked one by one after bank notices; gang closes account before reply.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6D6A0"/>
                          </a:solidFill>
                        </a:defRPr>
                      </a:pPr>
                      <a:r>
                        <a:t>Instant: maps entire 15+ mule account network in one view.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Cross-State Escapes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F476F"/>
                          </a:solidFill>
                        </a:defRPr>
                      </a:pPr>
                      <a:r>
                        <a:t>Suspect escapes to neighboring state; delayed paperwork halts chase.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6D6A0"/>
                          </a:solidFill>
                        </a:defRPr>
                      </a:pPr>
                      <a:r>
                        <a:t>Real-time highway tracking alerts border toll plazas immediately.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Court Evidence Dossier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F476F"/>
                          </a:solidFill>
                        </a:defRPr>
                      </a:pPr>
                      <a:r>
                        <a:t>10 to 15 days typing charge-sheet annexures and evidence chains.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6D6A0"/>
                          </a:solidFill>
                        </a:defRPr>
                      </a:pPr>
                      <a:r>
                        <a:t>1-Click PDF export with legal Section 65B evidence hash.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406640" y="2743200"/>
            <a:ext cx="4236415" cy="37947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2788920"/>
            <a:ext cx="4144975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788920"/>
            <a:ext cx="3962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</a:defRPr>
            </a:pPr>
            <a:r>
              <a:t>WHO BENEFITS &amp; HOW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200400"/>
            <a:ext cx="3931920" cy="713232"/>
          </a:xfrm>
          <a:prstGeom prst="roundRect">
            <a:avLst/>
          </a:prstGeom>
          <a:solidFill>
            <a:srgbClr val="1E2C4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Cyber Cells &amp; IOs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Finds the gang boss and money trail in seconds instead of drowning in spreadsheet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977639"/>
            <a:ext cx="3931920" cy="713232"/>
          </a:xfrm>
          <a:prstGeom prst="roundRect">
            <a:avLst/>
          </a:prstGeom>
          <a:solidFill>
            <a:srgbClr val="1E2C4E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D6A0"/>
                </a:solidFill>
              </a:defRPr>
            </a:pPr>
            <a:r>
              <a:t>Field Constables &amp; Patrol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Gets live highway location and checkpoint intercept alerts on the ground.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4754880"/>
            <a:ext cx="3931920" cy="713232"/>
          </a:xfrm>
          <a:prstGeom prst="roundRect">
            <a:avLst/>
          </a:prstGeom>
          <a:solidFill>
            <a:srgbClr val="1E2C4E"/>
          </a:solidFill>
          <a:ln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B703"/>
                </a:solidFill>
              </a:defRPr>
            </a:pPr>
            <a:r>
              <a:t>Public Prosecutors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Receives court-admissible charge sheet with Section 65B hash that defense cannot contest.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31920" cy="713232"/>
          </a:xfrm>
          <a:prstGeom prst="roundRect">
            <a:avLst/>
          </a:prstGeom>
          <a:solidFill>
            <a:srgbClr val="1E2C4E"/>
          </a:solidFill>
          <a:ln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76F"/>
                </a:solidFill>
              </a:defRPr>
            </a:pPr>
            <a:r>
              <a:t>Indian Public &amp; Victims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Quick recovery of siphoned retirement savings and dismantlement of fraud cartels.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645920" cy="29260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41823"/>
                </a:solidFill>
              </a:defRPr>
            </a:pPr>
            <a:r>
              <a:t>SIH 2024 /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4114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Research &amp; References</a:t>
            </a:r>
          </a:p>
          <a:p>
            <a:pPr>
              <a:defRPr sz="1100">
                <a:solidFill>
                  <a:srgbClr val="48CAE4"/>
                </a:solidFill>
              </a:defRPr>
            </a:pPr>
            <a:r>
              <a:t>Statutory Framework, Academic Backing &amp; Live System Showcase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502920"/>
            <a:ext cx="1188720" cy="292608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Page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94415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11002975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E5FF"/>
                </a:solidFill>
              </a:defRPr>
            </a:pPr>
            <a:r>
              <a:t>LEGAL STATUTES &amp; SCIENTIFIC FOUNDATION (7 PILLARS)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1463040" cy="1600200"/>
          </a:xfrm>
          <a:prstGeom prst="roundRect">
            <a:avLst/>
          </a:prstGeom>
          <a:solidFill>
            <a:srgbClr val="1E2C4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1. Aadhaar Act 2016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§29 &amp; §30: Legal non-storage of citizen biometric data; mathematical verification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1691640"/>
            <a:ext cx="1463040" cy="1600200"/>
          </a:xfrm>
          <a:prstGeom prst="roundRect">
            <a:avLst/>
          </a:prstGeom>
          <a:solidFill>
            <a:srgbClr val="1E2C4E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8CAE4"/>
                </a:solidFill>
              </a:defRPr>
            </a:pPr>
            <a:r>
              <a:t>2. Evidence Act §65B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BSA compliance: Tamper-proof cryptographic hash stamping for court admissibility.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691640"/>
            <a:ext cx="1463040" cy="1600200"/>
          </a:xfrm>
          <a:prstGeom prst="roundRect">
            <a:avLst/>
          </a:prstGeom>
          <a:solidFill>
            <a:srgbClr val="1E2C4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</a:defRPr>
            </a:pPr>
            <a:r>
              <a:t>3. BNS &amp; BNSS 2023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New criminal code rules for inter-state electronic evidence and cyber warrants.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1691640"/>
            <a:ext cx="1463040" cy="1600200"/>
          </a:xfrm>
          <a:prstGeom prst="roundRect">
            <a:avLst/>
          </a:prstGeom>
          <a:solidFill>
            <a:srgbClr val="1E2C4E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B703"/>
                </a:solidFill>
              </a:defRPr>
            </a:pPr>
            <a:r>
              <a:t>4. NCRB Crime Report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Statistical basis on surging inter-state fraud syndicates and burner SIM cartels.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691640"/>
            <a:ext cx="1463040" cy="1600200"/>
          </a:xfrm>
          <a:prstGeom prst="roundRect">
            <a:avLst/>
          </a:prstGeom>
          <a:solidFill>
            <a:srgbClr val="1E2C4E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476F"/>
                </a:solidFill>
              </a:defRPr>
            </a:pPr>
            <a:r>
              <a:t>5. RBI Cyber Rules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Central bank guidelines on immediate mule account freezing and layered money 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691640"/>
            <a:ext cx="1463040" cy="1600200"/>
          </a:xfrm>
          <a:prstGeom prst="roundRect">
            <a:avLst/>
          </a:prstGeom>
          <a:solidFill>
            <a:srgbClr val="1E2C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6. DoT CDR Standards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Official telecom standards for call detail records and cell tower location mapping.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691640"/>
            <a:ext cx="1463040" cy="1600200"/>
          </a:xfrm>
          <a:prstGeom prst="roundRect">
            <a:avLst/>
          </a:prstGeom>
          <a:solidFill>
            <a:srgbClr val="1E2C4E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8CAE4"/>
                </a:solidFill>
              </a:defRPr>
            </a:pPr>
            <a:r>
              <a:t>7. Graph Theory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Mathematical centrality algorithms to identify crime bosses and critical brokers.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11094415" cy="2971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611879"/>
            <a:ext cx="11002975" cy="32004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11879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B703"/>
                </a:solidFill>
              </a:defRPr>
            </a:pPr>
            <a:r>
              <a:t>NEXUS PLATFORM IN ACTION (WORKING PROTOTYPE)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1. ANY-CLUE SEARCH &amp; DASHBOARD</a:t>
            </a:r>
          </a:p>
        </p:txBody>
      </p:sp>
      <p:pic>
        <p:nvPicPr>
          <p:cNvPr id="21" name="Picture 20" descr="frame_01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3383280" cy="187451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" y="6126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0BED2"/>
                </a:solidFill>
              </a:defRPr>
            </a:pPr>
            <a:r>
              <a:t>Instant search by partial phone, vehicle plate, or Aadhaar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93192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2. 3D CRIME NETWORK GRAPH</a:t>
            </a:r>
          </a:p>
        </p:txBody>
      </p:sp>
      <p:pic>
        <p:nvPicPr>
          <p:cNvPr id="24" name="Picture 23" descr="frame_040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206240"/>
            <a:ext cx="3383280" cy="187451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343400" y="6126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0BED2"/>
                </a:solidFill>
              </a:defRPr>
            </a:pPr>
            <a:r>
              <a:t>Interactive 3D graph revealing gang hierarchy &amp; money mules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93192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3. INTER-STATE MAP &amp; 65B DOSSIER</a:t>
            </a:r>
          </a:p>
        </p:txBody>
      </p:sp>
      <p:pic>
        <p:nvPicPr>
          <p:cNvPr id="27" name="Picture 26" descr="frame_110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4206240"/>
            <a:ext cx="3383280" cy="187451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55279" y="6126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0BED2"/>
                </a:solidFill>
              </a:defRPr>
            </a:pPr>
            <a:r>
              <a:t>Live highway corridor tracking &amp; 1-click court evidence 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